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0" r:id="rId3"/>
    <p:sldId id="277" r:id="rId4"/>
    <p:sldId id="260" r:id="rId5"/>
    <p:sldId id="261" r:id="rId6"/>
    <p:sldId id="271" r:id="rId7"/>
    <p:sldId id="272" r:id="rId8"/>
    <p:sldId id="275" r:id="rId9"/>
    <p:sldId id="273" r:id="rId10"/>
    <p:sldId id="274" r:id="rId11"/>
    <p:sldId id="278" r:id="rId12"/>
    <p:sldId id="279" r:id="rId13"/>
    <p:sldId id="276" r:id="rId14"/>
    <p:sldId id="264" r:id="rId15"/>
    <p:sldId id="265" r:id="rId16"/>
    <p:sldId id="281" r:id="rId17"/>
    <p:sldId id="28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50" autoAdjust="0"/>
    <p:restoredTop sz="94660"/>
  </p:normalViewPr>
  <p:slideViewPr>
    <p:cSldViewPr snapToGrid="0">
      <p:cViewPr varScale="1">
        <p:scale>
          <a:sx n="87" d="100"/>
          <a:sy n="87" d="100"/>
        </p:scale>
        <p:origin x="7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6/10/2025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1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5400" dirty="0"/>
              <a:t>Portfolio Optimization using Machine Learning and Markowitz Theory</a:t>
            </a:r>
            <a:endParaRPr lang="fa-IR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Mohammad </a:t>
            </a:r>
            <a:r>
              <a:rPr lang="en-US" dirty="0" err="1" smtClean="0"/>
              <a:t>askari</a:t>
            </a:r>
            <a:endParaRPr lang="fa-IR" dirty="0" smtClean="0"/>
          </a:p>
        </p:txBody>
      </p:sp>
    </p:spTree>
    <p:extLst>
      <p:ext uri="{BB962C8B-B14F-4D97-AF65-F5344CB8AC3E}">
        <p14:creationId xmlns:p14="http://schemas.microsoft.com/office/powerpoint/2010/main" val="1252920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Project </a:t>
            </a:r>
            <a:r>
              <a:rPr lang="en-US" b="1" dirty="0"/>
              <a:t>Overview</a:t>
            </a:r>
            <a:br>
              <a:rPr lang="en-US" b="1" dirty="0"/>
            </a:b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l" rtl="0"/>
            <a:r>
              <a:rPr lang="en-US" b="1" dirty="0"/>
              <a:t>Phase 1:</a:t>
            </a:r>
            <a:r>
              <a:rPr lang="en-US" dirty="0"/>
              <a:t> Data exploration &amp; cleaning </a:t>
            </a:r>
            <a:endParaRPr lang="en-US" dirty="0" smtClean="0"/>
          </a:p>
          <a:p>
            <a:pPr lvl="0" algn="l" rtl="0"/>
            <a:r>
              <a:rPr lang="en-US" b="1" dirty="0" smtClean="0"/>
              <a:t>Phase </a:t>
            </a:r>
            <a:r>
              <a:rPr lang="en-US" b="1" dirty="0"/>
              <a:t>2:</a:t>
            </a:r>
            <a:r>
              <a:rPr lang="en-US" dirty="0"/>
              <a:t> Feature engineering, automation, </a:t>
            </a:r>
            <a:r>
              <a:rPr lang="en-US" dirty="0" smtClean="0"/>
              <a:t>SQLite</a:t>
            </a:r>
          </a:p>
          <a:p>
            <a:pPr lvl="0" algn="l" rtl="0"/>
            <a:r>
              <a:rPr lang="en-US" b="1" dirty="0" smtClean="0"/>
              <a:t>Phase </a:t>
            </a:r>
            <a:r>
              <a:rPr lang="en-US" b="1" dirty="0"/>
              <a:t>3:</a:t>
            </a:r>
            <a:r>
              <a:rPr lang="en-US" dirty="0"/>
              <a:t> Predictive modeling, evaluation, end-to-end integration</a:t>
            </a:r>
          </a:p>
        </p:txBody>
      </p:sp>
    </p:spTree>
    <p:extLst>
      <p:ext uri="{BB962C8B-B14F-4D97-AF65-F5344CB8AC3E}">
        <p14:creationId xmlns:p14="http://schemas.microsoft.com/office/powerpoint/2010/main" val="3207099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Markowitz theory ?</a:t>
            </a:r>
            <a:endParaRPr lang="fa-IR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0107" y="2013995"/>
            <a:ext cx="6382788" cy="3970116"/>
          </a:xfrm>
        </p:spPr>
      </p:pic>
    </p:spTree>
    <p:extLst>
      <p:ext uri="{BB962C8B-B14F-4D97-AF65-F5344CB8AC3E}">
        <p14:creationId xmlns:p14="http://schemas.microsoft.com/office/powerpoint/2010/main" val="3071052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&amp; Features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l" rtl="0"/>
            <a:r>
              <a:rPr lang="en-US" dirty="0"/>
              <a:t>Dataset: </a:t>
            </a:r>
            <a:r>
              <a:rPr lang="en-US" sz="1400" dirty="0"/>
              <a:t>all_stocks_5yr.csv</a:t>
            </a:r>
            <a:r>
              <a:rPr lang="en-US" dirty="0"/>
              <a:t> (S&amp;P 500, 2013–2018)</a:t>
            </a:r>
            <a:endParaRPr lang="en-US" sz="1800" dirty="0"/>
          </a:p>
          <a:p>
            <a:pPr lvl="0" algn="l" rtl="0"/>
            <a:r>
              <a:rPr lang="en-US" dirty="0"/>
              <a:t>Key features:</a:t>
            </a:r>
            <a:endParaRPr lang="en-US" sz="1800" dirty="0"/>
          </a:p>
          <a:p>
            <a:pPr lvl="1" algn="l" rtl="0"/>
            <a:r>
              <a:rPr lang="en-US" dirty="0"/>
              <a:t>price metrics (open, close, etc.)</a:t>
            </a:r>
            <a:endParaRPr lang="en-US" sz="1600" dirty="0"/>
          </a:p>
          <a:p>
            <a:pPr lvl="1" algn="l" rtl="0"/>
            <a:r>
              <a:rPr lang="en-US" sz="2800" dirty="0"/>
              <a:t>engineered: </a:t>
            </a:r>
            <a:r>
              <a:rPr lang="en-US" dirty="0" err="1"/>
              <a:t>daily_return</a:t>
            </a:r>
            <a:r>
              <a:rPr lang="en-US" sz="2800" dirty="0"/>
              <a:t>, </a:t>
            </a:r>
            <a:r>
              <a:rPr lang="en-US" dirty="0" err="1"/>
              <a:t>log_return</a:t>
            </a:r>
            <a:r>
              <a:rPr lang="en-US" sz="2800" dirty="0"/>
              <a:t>, </a:t>
            </a:r>
            <a:r>
              <a:rPr lang="en-US" dirty="0"/>
              <a:t>volatility_20d</a:t>
            </a:r>
            <a:endParaRPr lang="en-US" sz="2400" dirty="0"/>
          </a:p>
          <a:p>
            <a:pPr lvl="0" algn="l" rtl="0"/>
            <a:r>
              <a:rPr lang="en-US" dirty="0"/>
              <a:t>Output target: </a:t>
            </a:r>
            <a:r>
              <a:rPr lang="en-US" sz="1400" dirty="0"/>
              <a:t>mean_return_20d</a:t>
            </a:r>
            <a:endParaRPr lang="en-US" sz="1800" dirty="0"/>
          </a:p>
          <a:p>
            <a:pPr marL="0" indent="0" algn="l" rtl="0">
              <a:buNone/>
            </a:pPr>
            <a:r>
              <a:rPr lang="en-US" dirty="0"/>
              <a:t/>
            </a:r>
            <a:br>
              <a:rPr lang="en-US" dirty="0"/>
            </a:b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2909090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&amp; Features</a:t>
            </a:r>
            <a:endParaRPr lang="fa-IR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0944" y="2000863"/>
            <a:ext cx="5782655" cy="350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924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&amp; Features</a:t>
            </a:r>
            <a:endParaRPr lang="fa-IR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980139" y="2871947"/>
            <a:ext cx="27443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a-IR" altLang="fa-I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241" y="2459659"/>
            <a:ext cx="5547542" cy="228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83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Market cap</a:t>
            </a:r>
            <a:endParaRPr lang="fa-IR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2063141"/>
            <a:ext cx="4267200" cy="370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134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Portfolio selection methods</a:t>
            </a:r>
            <a:endParaRPr lang="fa-IR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9603" y="2016125"/>
            <a:ext cx="6127119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050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</a:t>
            </a:r>
            <a:r>
              <a:rPr lang="en-US" dirty="0"/>
              <a:t>Design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l" rtl="0"/>
            <a:r>
              <a:rPr lang="en-US" dirty="0"/>
              <a:t>Chosen model: </a:t>
            </a:r>
            <a:r>
              <a:rPr lang="en-US" dirty="0" err="1"/>
              <a:t>XGBoost</a:t>
            </a:r>
            <a:r>
              <a:rPr lang="en-US" dirty="0"/>
              <a:t> </a:t>
            </a:r>
            <a:r>
              <a:rPr lang="en-US" dirty="0" err="1" smtClean="0"/>
              <a:t>Regressor</a:t>
            </a:r>
            <a:endParaRPr lang="en-US" dirty="0" smtClean="0"/>
          </a:p>
          <a:p>
            <a:pPr lvl="1" algn="l" rtl="0"/>
            <a:r>
              <a:rPr lang="en-US" dirty="0" smtClean="0"/>
              <a:t>Target: </a:t>
            </a:r>
            <a:r>
              <a:rPr lang="en-US" dirty="0" smtClean="0"/>
              <a:t>predicted_mean_return_20d</a:t>
            </a:r>
            <a:endParaRPr lang="en-US" dirty="0"/>
          </a:p>
          <a:p>
            <a:pPr lvl="1" algn="l" rtl="0"/>
            <a:r>
              <a:rPr lang="en-US" dirty="0"/>
              <a:t>PCA (3 components</a:t>
            </a:r>
            <a:r>
              <a:rPr lang="en-US" dirty="0" smtClean="0"/>
              <a:t>)</a:t>
            </a:r>
          </a:p>
          <a:p>
            <a:pPr lvl="1" algn="l" rtl="0"/>
            <a:r>
              <a:rPr lang="en-US" dirty="0" err="1" smtClean="0"/>
              <a:t>GridSearchCV</a:t>
            </a:r>
            <a:endParaRPr lang="en-US" dirty="0"/>
          </a:p>
          <a:p>
            <a:pPr lvl="1" algn="l" rtl="0"/>
            <a:endParaRPr lang="en-US" dirty="0"/>
          </a:p>
          <a:p>
            <a:pPr algn="l" rtl="0"/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4141702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Metrics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l" rtl="0"/>
            <a:r>
              <a:rPr lang="en-US" b="1" dirty="0"/>
              <a:t>Regression metrics</a:t>
            </a:r>
            <a:r>
              <a:rPr lang="en-US" dirty="0"/>
              <a:t> (per stock):</a:t>
            </a:r>
          </a:p>
          <a:p>
            <a:pPr lvl="1" algn="l" rtl="0"/>
            <a:r>
              <a:rPr lang="en-US" dirty="0"/>
              <a:t>MAE, RMSE, R²</a:t>
            </a:r>
          </a:p>
          <a:p>
            <a:pPr lvl="0" algn="l" rtl="0"/>
            <a:r>
              <a:rPr lang="en-US" b="1" dirty="0"/>
              <a:t>Portfolio metrics</a:t>
            </a:r>
            <a:r>
              <a:rPr lang="en-US" dirty="0"/>
              <a:t>:</a:t>
            </a:r>
          </a:p>
          <a:p>
            <a:pPr lvl="1" algn="l" rtl="0"/>
            <a:r>
              <a:rPr lang="en-US" dirty="0"/>
              <a:t>Return, Risk (Volatility), Sharpe Ratio</a:t>
            </a:r>
          </a:p>
          <a:p>
            <a:pPr lvl="1" algn="l" rtl="0"/>
            <a:r>
              <a:rPr lang="en-US" dirty="0"/>
              <a:t>Visualization: Efficient Frontier</a:t>
            </a:r>
          </a:p>
          <a:p>
            <a:pPr algn="l" rtl="0"/>
            <a:endParaRPr lang="fa-I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5024" y="2082039"/>
            <a:ext cx="2929586" cy="3384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995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Metrics</a:t>
            </a:r>
            <a:endParaRPr lang="fa-IR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0228" y="2029600"/>
            <a:ext cx="7232290" cy="3030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157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Metrics</a:t>
            </a:r>
            <a:endParaRPr lang="fa-IR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6989" y="2003224"/>
            <a:ext cx="8467742" cy="3571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804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Pipeline Automation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l" rtl="0"/>
            <a:r>
              <a:rPr lang="en-US" sz="1400" dirty="0" smtClean="0"/>
              <a:t>run_pipeline.py</a:t>
            </a:r>
            <a:r>
              <a:rPr lang="en-US" dirty="0" smtClean="0"/>
              <a:t> </a:t>
            </a:r>
            <a:r>
              <a:rPr lang="en-US" dirty="0"/>
              <a:t>single command</a:t>
            </a:r>
          </a:p>
          <a:p>
            <a:pPr lvl="0" algn="l" rtl="0"/>
            <a:r>
              <a:rPr lang="en-US" dirty="0"/>
              <a:t>Executes:</a:t>
            </a:r>
          </a:p>
          <a:p>
            <a:pPr lvl="1" algn="l" rtl="0"/>
            <a:r>
              <a:rPr lang="en-US" dirty="0"/>
              <a:t>Data loading</a:t>
            </a:r>
          </a:p>
          <a:p>
            <a:pPr lvl="1" algn="l" rtl="0"/>
            <a:r>
              <a:rPr lang="en-US" dirty="0"/>
              <a:t>Preprocessing</a:t>
            </a:r>
          </a:p>
          <a:p>
            <a:pPr lvl="1" algn="l" rtl="0"/>
            <a:r>
              <a:rPr lang="en-US" dirty="0"/>
              <a:t>Training</a:t>
            </a:r>
          </a:p>
          <a:p>
            <a:pPr lvl="1" algn="l" rtl="0"/>
            <a:r>
              <a:rPr lang="en-US" dirty="0"/>
              <a:t>Prediction &amp; Portfolio Optimization</a:t>
            </a:r>
          </a:p>
          <a:p>
            <a:pPr lvl="0" algn="l" rtl="0"/>
            <a:r>
              <a:rPr lang="en-US" dirty="0"/>
              <a:t>Stored outputs: CSV, SQLite</a:t>
            </a:r>
          </a:p>
          <a:p>
            <a:pPr algn="l" rtl="0"/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2612638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&amp; Plots</a:t>
            </a:r>
            <a:endParaRPr lang="fa-IR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6145" y="1938252"/>
            <a:ext cx="6597223" cy="3958334"/>
          </a:xfrm>
        </p:spPr>
      </p:pic>
    </p:spTree>
    <p:extLst>
      <p:ext uri="{BB962C8B-B14F-4D97-AF65-F5344CB8AC3E}">
        <p14:creationId xmlns:p14="http://schemas.microsoft.com/office/powerpoint/2010/main" val="507261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final portfolio</a:t>
            </a:r>
            <a:endParaRPr lang="fa-IR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5666347"/>
              </p:ext>
            </p:extLst>
          </p:nvPr>
        </p:nvGraphicFramePr>
        <p:xfrm>
          <a:off x="5298638" y="196769"/>
          <a:ext cx="5756216" cy="585216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895780">
                  <a:extLst>
                    <a:ext uri="{9D8B030D-6E8A-4147-A177-3AD203B41FA5}">
                      <a16:colId xmlns:a16="http://schemas.microsoft.com/office/drawing/2014/main" val="1830759707"/>
                    </a:ext>
                  </a:extLst>
                </a:gridCol>
                <a:gridCol w="2860436">
                  <a:extLst>
                    <a:ext uri="{9D8B030D-6E8A-4147-A177-3AD203B41FA5}">
                      <a16:colId xmlns:a16="http://schemas.microsoft.com/office/drawing/2014/main" val="822663300"/>
                    </a:ext>
                  </a:extLst>
                </a:gridCol>
              </a:tblGrid>
              <a:tr h="324882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Weight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Symbol</a:t>
                      </a:r>
                      <a:endParaRPr lang="fa-IR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018296"/>
                  </a:ext>
                </a:extLst>
              </a:tr>
              <a:tr h="574791">
                <a:tc>
                  <a:txBody>
                    <a:bodyPr/>
                    <a:lstStyle/>
                    <a:p>
                      <a:pPr marL="0" marR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0.09100503445510517</a:t>
                      </a:r>
                    </a:p>
                    <a:p>
                      <a:pPr algn="l" rtl="1"/>
                      <a:endParaRPr lang="fa-I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CSX</a:t>
                      </a:r>
                      <a:endParaRPr lang="fa-IR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39180"/>
                  </a:ext>
                </a:extLst>
              </a:tr>
              <a:tr h="574791">
                <a:tc>
                  <a:txBody>
                    <a:bodyPr/>
                    <a:lstStyle/>
                    <a:p>
                      <a:pPr marL="0" marR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0.03003239252722244</a:t>
                      </a:r>
                    </a:p>
                    <a:p>
                      <a:pPr algn="l" rtl="1"/>
                      <a:endParaRPr lang="fa-I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HII</a:t>
                      </a:r>
                      <a:endParaRPr lang="fa-IR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0114796"/>
                  </a:ext>
                </a:extLst>
              </a:tr>
              <a:tr h="574791">
                <a:tc>
                  <a:txBody>
                    <a:bodyPr/>
                    <a:lstStyle/>
                    <a:p>
                      <a:pPr marL="0" marR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0.22891061737623697</a:t>
                      </a:r>
                    </a:p>
                    <a:p>
                      <a:pPr algn="l" rtl="1"/>
                      <a:endParaRPr lang="fa-I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HRS</a:t>
                      </a:r>
                      <a:endParaRPr lang="fa-IR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8210360"/>
                  </a:ext>
                </a:extLst>
              </a:tr>
              <a:tr h="574791">
                <a:tc>
                  <a:txBody>
                    <a:bodyPr/>
                    <a:lstStyle/>
                    <a:p>
                      <a:pPr marL="0" marR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0.15771587675332735</a:t>
                      </a:r>
                    </a:p>
                    <a:p>
                      <a:pPr algn="l" rtl="1"/>
                      <a:endParaRPr lang="fa-I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HUM</a:t>
                      </a:r>
                      <a:endParaRPr lang="fa-IR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024742"/>
                  </a:ext>
                </a:extLst>
              </a:tr>
              <a:tr h="574791">
                <a:tc>
                  <a:txBody>
                    <a:bodyPr/>
                    <a:lstStyle/>
                    <a:p>
                      <a:pPr marL="0" marR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0.10452051365885769</a:t>
                      </a:r>
                      <a:endParaRPr lang="fa-IR" sz="1800" dirty="0" smtClean="0"/>
                    </a:p>
                    <a:p>
                      <a:pPr algn="l" rtl="1"/>
                      <a:endParaRPr lang="fa-I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IT</a:t>
                      </a:r>
                      <a:endParaRPr lang="fa-IR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708104"/>
                  </a:ext>
                </a:extLst>
              </a:tr>
              <a:tr h="574791">
                <a:tc>
                  <a:txBody>
                    <a:bodyPr/>
                    <a:lstStyle/>
                    <a:p>
                      <a:pPr marL="0" marR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0.17169125540081911</a:t>
                      </a:r>
                      <a:endParaRPr lang="fa-IR" sz="1800" dirty="0" smtClean="0"/>
                    </a:p>
                    <a:p>
                      <a:pPr algn="l" rtl="1"/>
                      <a:endParaRPr lang="fa-I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LNC</a:t>
                      </a:r>
                      <a:endParaRPr lang="fa-IR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062424"/>
                  </a:ext>
                </a:extLst>
              </a:tr>
              <a:tr h="346548">
                <a:tc>
                  <a:txBody>
                    <a:bodyPr/>
                    <a:lstStyle/>
                    <a:p>
                      <a:pPr algn="l" rtl="1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0.1271135920067373</a:t>
                      </a:r>
                      <a:endParaRPr lang="fa-I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PHM</a:t>
                      </a:r>
                      <a:endParaRPr lang="fa-IR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300568"/>
                  </a:ext>
                </a:extLst>
              </a:tr>
              <a:tr h="574791">
                <a:tc>
                  <a:txBody>
                    <a:bodyPr/>
                    <a:lstStyle/>
                    <a:p>
                      <a:pPr marL="0" marR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0.05655776123784681</a:t>
                      </a:r>
                      <a:endParaRPr lang="fa-IR" sz="1800" dirty="0" smtClean="0"/>
                    </a:p>
                    <a:p>
                      <a:pPr algn="l" rtl="1"/>
                      <a:endParaRPr lang="fa-I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TXN</a:t>
                      </a:r>
                      <a:endParaRPr lang="fa-IR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6251304"/>
                  </a:ext>
                </a:extLst>
              </a:tr>
              <a:tr h="574791">
                <a:tc>
                  <a:txBody>
                    <a:bodyPr/>
                    <a:lstStyle/>
                    <a:p>
                      <a:pPr marL="0" marR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0.03245295658384725</a:t>
                      </a:r>
                    </a:p>
                    <a:p>
                      <a:pPr algn="l" rtl="1"/>
                      <a:endParaRPr lang="fa-I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WFC</a:t>
                      </a:r>
                      <a:endParaRPr lang="fa-IR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45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4879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portfolio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 smtClean="0"/>
              <a:t>Return: 0.0105</a:t>
            </a:r>
          </a:p>
          <a:p>
            <a:pPr algn="l" rtl="0"/>
            <a:r>
              <a:rPr lang="en-US" dirty="0" smtClean="0"/>
              <a:t>Risk: 0.0072</a:t>
            </a:r>
          </a:p>
          <a:p>
            <a:pPr algn="l" rtl="0"/>
            <a:r>
              <a:rPr lang="en-US" dirty="0" smtClean="0"/>
              <a:t>Sharpe ratio: 1.45</a:t>
            </a:r>
          </a:p>
          <a:p>
            <a:pPr marL="0" indent="0" algn="l" rtl="0">
              <a:buNone/>
            </a:pP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261778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Thank you!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0891046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5537</TotalTime>
  <Words>199</Words>
  <Application>Microsoft Office PowerPoint</Application>
  <PresentationFormat>Widescreen</PresentationFormat>
  <Paragraphs>66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Gill Sans MT</vt:lpstr>
      <vt:lpstr>Times New Roman</vt:lpstr>
      <vt:lpstr>Gallery</vt:lpstr>
      <vt:lpstr>Portfolio Optimization using Machine Learning and Markowitz Theory</vt:lpstr>
      <vt:lpstr>Project Overview </vt:lpstr>
      <vt:lpstr>What is Markowitz theory ?</vt:lpstr>
      <vt:lpstr>Data &amp; Features</vt:lpstr>
      <vt:lpstr>Data &amp; Features</vt:lpstr>
      <vt:lpstr>Data &amp; Features</vt:lpstr>
      <vt:lpstr>Market cap</vt:lpstr>
      <vt:lpstr>Portfolio selection methods</vt:lpstr>
      <vt:lpstr>model Design</vt:lpstr>
      <vt:lpstr>Evaluation Metrics</vt:lpstr>
      <vt:lpstr>Evaluation Metrics</vt:lpstr>
      <vt:lpstr>Evaluation Metrics</vt:lpstr>
      <vt:lpstr>Full Pipeline Automation</vt:lpstr>
      <vt:lpstr>Results &amp; Plots</vt:lpstr>
      <vt:lpstr>final portfolio</vt:lpstr>
      <vt:lpstr>final portfolio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optimization using Markowitz theory</dc:title>
  <dc:creator>User</dc:creator>
  <cp:lastModifiedBy>User</cp:lastModifiedBy>
  <cp:revision>32</cp:revision>
  <dcterms:created xsi:type="dcterms:W3CDTF">2025-06-08T07:05:29Z</dcterms:created>
  <dcterms:modified xsi:type="dcterms:W3CDTF">2025-06-12T06:58:51Z</dcterms:modified>
</cp:coreProperties>
</file>