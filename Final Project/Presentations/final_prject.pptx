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png" ContentType="image/png"/>
  <Override PartName="/ppt/media/image3.png" ContentType="image/png"/>
  <Override PartName="/ppt/media/image4.png" ContentType="image/png"/>
  <Override PartName="/ppt/media/image5.jpeg" ContentType="image/jpe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e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6;p14"/>
          <p:cNvSpPr/>
          <p:nvPr/>
        </p:nvSpPr>
        <p:spPr>
          <a:xfrm>
            <a:off x="-6120" y="387720"/>
            <a:ext cx="91738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a1434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Google Shape;7;p14"/>
          <p:cNvSpPr/>
          <p:nvPr/>
        </p:nvSpPr>
        <p:spPr>
          <a:xfrm>
            <a:off x="628560" y="360"/>
            <a:ext cx="360" cy="5243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a1434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e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59;p20"/>
          <p:cNvSpPr/>
          <p:nvPr/>
        </p:nvSpPr>
        <p:spPr>
          <a:xfrm>
            <a:off x="-6120" y="387720"/>
            <a:ext cx="91738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a1434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hyperlink" Target="mailto:mojahedmohaddeseh@gmail.com" TargetMode="External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114;p1"/>
          <p:cNvGrpSpPr/>
          <p:nvPr/>
        </p:nvGrpSpPr>
        <p:grpSpPr>
          <a:xfrm>
            <a:off x="-15120" y="-25200"/>
            <a:ext cx="10048320" cy="5243760"/>
            <a:chOff x="-15120" y="-25200"/>
            <a:chExt cx="10048320" cy="5243760"/>
          </a:xfrm>
        </p:grpSpPr>
        <p:sp>
          <p:nvSpPr>
            <p:cNvPr id="80" name="Google Shape;115;p1"/>
            <p:cNvSpPr/>
            <p:nvPr/>
          </p:nvSpPr>
          <p:spPr>
            <a:xfrm>
              <a:off x="6949080" y="-25200"/>
              <a:ext cx="360" cy="5243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525">
              <a:solidFill>
                <a:srgbClr val="a1434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" name="Google Shape;116;p1"/>
            <p:cNvSpPr/>
            <p:nvPr/>
          </p:nvSpPr>
          <p:spPr>
            <a:xfrm>
              <a:off x="10032840" y="-25200"/>
              <a:ext cx="360" cy="5243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525">
              <a:solidFill>
                <a:srgbClr val="a1434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" name="Google Shape;117;p1"/>
            <p:cNvSpPr/>
            <p:nvPr/>
          </p:nvSpPr>
          <p:spPr>
            <a:xfrm>
              <a:off x="-15120" y="3153240"/>
              <a:ext cx="91738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525">
              <a:solidFill>
                <a:srgbClr val="a1434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900000" y="619200"/>
            <a:ext cx="5083920" cy="26438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859" spc="-1" strike="noStrike">
                <a:solidFill>
                  <a:srgbClr val="a14342"/>
                </a:solidFill>
                <a:latin typeface="Anybody"/>
                <a:ea typeface="Anybody"/>
              </a:rPr>
              <a:t>Fro</a:t>
            </a:r>
            <a:r>
              <a:rPr b="0" lang="en" sz="3859" spc="-1" strike="noStrike">
                <a:solidFill>
                  <a:srgbClr val="a14342"/>
                </a:solidFill>
                <a:latin typeface="Anybody"/>
                <a:ea typeface="Anybody"/>
              </a:rPr>
              <a:t>m </a:t>
            </a:r>
            <a:r>
              <a:rPr b="0" lang="en" sz="3859" spc="-1" strike="noStrike">
                <a:solidFill>
                  <a:srgbClr val="a14342"/>
                </a:solidFill>
                <a:latin typeface="Anybody"/>
                <a:ea typeface="Anybody"/>
              </a:rPr>
              <a:t>De</a:t>
            </a:r>
            <a:r>
              <a:rPr b="0" lang="en" sz="3859" spc="-1" strike="noStrike">
                <a:solidFill>
                  <a:srgbClr val="a14342"/>
                </a:solidFill>
                <a:latin typeface="Anybody"/>
                <a:ea typeface="Anybody"/>
              </a:rPr>
              <a:t>ep </a:t>
            </a:r>
            <a:r>
              <a:rPr b="0" lang="en" sz="3859" spc="-1" strike="noStrike">
                <a:solidFill>
                  <a:srgbClr val="a14342"/>
                </a:solidFill>
                <a:latin typeface="Anybody"/>
                <a:ea typeface="Anybody"/>
              </a:rPr>
              <a:t>Wi</a:t>
            </a:r>
            <a:r>
              <a:rPr b="0" lang="en" sz="3859" spc="-1" strike="noStrike">
                <a:solidFill>
                  <a:srgbClr val="a14342"/>
                </a:solidFill>
                <a:latin typeface="Anybody"/>
                <a:ea typeface="Anybody"/>
              </a:rPr>
              <a:t>thi</a:t>
            </a:r>
            <a:r>
              <a:rPr b="0" lang="en" sz="3859" spc="-1" strike="noStrike">
                <a:solidFill>
                  <a:srgbClr val="a14342"/>
                </a:solidFill>
                <a:latin typeface="Anybody"/>
                <a:ea typeface="Anybody"/>
              </a:rPr>
              <a:t>n </a:t>
            </a:r>
            <a:r>
              <a:rPr b="0" lang="en" sz="3859" spc="-1" strike="noStrike">
                <a:solidFill>
                  <a:srgbClr val="a14342"/>
                </a:solidFill>
                <a:latin typeface="Anybody"/>
                <a:ea typeface="Anybody"/>
              </a:rPr>
              <a:t>th</a:t>
            </a:r>
            <a:r>
              <a:rPr b="0" lang="en" sz="3859" spc="-1" strike="noStrike">
                <a:solidFill>
                  <a:srgbClr val="a14342"/>
                </a:solidFill>
                <a:latin typeface="Anybody"/>
                <a:ea typeface="Anybody"/>
              </a:rPr>
              <a:t>e </a:t>
            </a:r>
            <a:r>
              <a:rPr b="0" lang="en" sz="3859" spc="-1" strike="noStrike">
                <a:solidFill>
                  <a:srgbClr val="a14342"/>
                </a:solidFill>
                <a:latin typeface="Anybody"/>
                <a:ea typeface="Anybody"/>
              </a:rPr>
              <a:t>Ea</a:t>
            </a:r>
            <a:r>
              <a:rPr b="0" lang="en" sz="3859" spc="-1" strike="noStrike">
                <a:solidFill>
                  <a:srgbClr val="a14342"/>
                </a:solidFill>
                <a:latin typeface="Anybody"/>
                <a:ea typeface="Anybody"/>
              </a:rPr>
              <a:t>rth </a:t>
            </a:r>
            <a:r>
              <a:rPr b="0" lang="en" sz="3859" spc="-1" strike="noStrike">
                <a:solidFill>
                  <a:srgbClr val="a14342"/>
                </a:solidFill>
                <a:latin typeface="Anybody"/>
                <a:ea typeface="Anybody"/>
              </a:rPr>
              <a:t>to </a:t>
            </a:r>
            <a:r>
              <a:rPr b="0" lang="en" sz="3859" spc="-1" strike="noStrike">
                <a:solidFill>
                  <a:srgbClr val="a14342"/>
                </a:solidFill>
                <a:latin typeface="Anybody"/>
                <a:ea typeface="Anybody"/>
              </a:rPr>
              <a:t>Pr</a:t>
            </a:r>
            <a:r>
              <a:rPr b="0" lang="en" sz="3859" spc="-1" strike="noStrike">
                <a:solidFill>
                  <a:srgbClr val="a14342"/>
                </a:solidFill>
                <a:latin typeface="Anybody"/>
                <a:ea typeface="Anybody"/>
              </a:rPr>
              <a:t>edi</a:t>
            </a:r>
            <a:r>
              <a:rPr b="0" lang="en" sz="3859" spc="-1" strike="noStrike">
                <a:solidFill>
                  <a:srgbClr val="a14342"/>
                </a:solidFill>
                <a:latin typeface="Anybody"/>
                <a:ea typeface="Anybody"/>
              </a:rPr>
              <a:t>cti</a:t>
            </a:r>
            <a:r>
              <a:rPr b="0" lang="en" sz="3859" spc="-1" strike="noStrike">
                <a:solidFill>
                  <a:srgbClr val="a14342"/>
                </a:solidFill>
                <a:latin typeface="Anybody"/>
                <a:ea typeface="Anybody"/>
              </a:rPr>
              <a:t>ng </a:t>
            </a:r>
            <a:r>
              <a:rPr b="0" lang="en" sz="3859" spc="-1" strike="noStrike">
                <a:solidFill>
                  <a:srgbClr val="a14342"/>
                </a:solidFill>
                <a:latin typeface="Anybody"/>
                <a:ea typeface="Anybody"/>
              </a:rPr>
              <a:t>th</a:t>
            </a:r>
            <a:r>
              <a:rPr b="0" lang="en" sz="3859" spc="-1" strike="noStrike">
                <a:solidFill>
                  <a:srgbClr val="a14342"/>
                </a:solidFill>
                <a:latin typeface="Anybody"/>
                <a:ea typeface="Anybody"/>
              </a:rPr>
              <a:t>e </a:t>
            </a:r>
            <a:r>
              <a:rPr b="0" lang="en" sz="3859" spc="-1" strike="noStrike">
                <a:solidFill>
                  <a:srgbClr val="a14342"/>
                </a:solidFill>
                <a:latin typeface="Anybody"/>
                <a:ea typeface="Anybody"/>
              </a:rPr>
              <a:t>Fu</a:t>
            </a:r>
            <a:r>
              <a:rPr b="0" lang="en" sz="3859" spc="-1" strike="noStrike">
                <a:solidFill>
                  <a:srgbClr val="a14342"/>
                </a:solidFill>
                <a:latin typeface="Anybody"/>
                <a:ea typeface="Anybody"/>
              </a:rPr>
              <a:t>tur</a:t>
            </a:r>
            <a:r>
              <a:rPr b="0" lang="en" sz="3859" spc="-1" strike="noStrike">
                <a:solidFill>
                  <a:srgbClr val="a14342"/>
                </a:solidFill>
                <a:latin typeface="Anybody"/>
                <a:ea typeface="Anybody"/>
              </a:rPr>
              <a:t>e</a:t>
            </a:r>
            <a:endParaRPr b="0" lang="en-US" sz="385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ubTitle"/>
          </p:nvPr>
        </p:nvSpPr>
        <p:spPr>
          <a:xfrm>
            <a:off x="866880" y="3377880"/>
            <a:ext cx="4230720" cy="6188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1600" spc="-1" strike="noStrike">
                <a:solidFill>
                  <a:srgbClr val="332e2a"/>
                </a:solidFill>
                <a:latin typeface="Open Sans"/>
                <a:ea typeface="Open Sans"/>
              </a:rPr>
              <a:t>Can we </a:t>
            </a:r>
            <a:r>
              <a:rPr b="0" lang="en" sz="1600" spc="-1" strike="noStrike">
                <a:solidFill>
                  <a:srgbClr val="332e2a"/>
                </a:solidFill>
                <a:latin typeface="Open Sans"/>
                <a:ea typeface="Open Sans"/>
              </a:rPr>
              <a:t>predict </a:t>
            </a:r>
            <a:r>
              <a:rPr b="0" lang="en" sz="1600" spc="-1" strike="noStrike">
                <a:solidFill>
                  <a:srgbClr val="332e2a"/>
                </a:solidFill>
                <a:latin typeface="Open Sans"/>
                <a:ea typeface="Open Sans"/>
              </a:rPr>
              <a:t>the </a:t>
            </a:r>
            <a:r>
              <a:rPr b="0" lang="en" sz="1600" spc="-1" strike="noStrike">
                <a:solidFill>
                  <a:srgbClr val="332e2a"/>
                </a:solidFill>
                <a:latin typeface="Open Sans"/>
                <a:ea typeface="Open Sans"/>
              </a:rPr>
              <a:t>magnit</a:t>
            </a:r>
            <a:r>
              <a:rPr b="0" lang="en" sz="1600" spc="-1" strike="noStrike">
                <a:solidFill>
                  <a:srgbClr val="332e2a"/>
                </a:solidFill>
                <a:latin typeface="Open Sans"/>
                <a:ea typeface="Open Sans"/>
              </a:rPr>
              <a:t>ude of </a:t>
            </a:r>
            <a:r>
              <a:rPr b="0" lang="en" sz="1600" spc="-1" strike="noStrike">
                <a:solidFill>
                  <a:srgbClr val="332e2a"/>
                </a:solidFill>
                <a:latin typeface="Open Sans"/>
                <a:ea typeface="Open Sans"/>
              </a:rPr>
              <a:t>future </a:t>
            </a:r>
            <a:r>
              <a:rPr b="0" lang="en" sz="1600" spc="-1" strike="noStrike">
                <a:solidFill>
                  <a:srgbClr val="332e2a"/>
                </a:solidFill>
                <a:latin typeface="Open Sans"/>
                <a:ea typeface="Open Sans"/>
              </a:rPr>
              <a:t>earthq</a:t>
            </a:r>
            <a:r>
              <a:rPr b="0" lang="en" sz="1600" spc="-1" strike="noStrike">
                <a:solidFill>
                  <a:srgbClr val="332e2a"/>
                </a:solidFill>
                <a:latin typeface="Open Sans"/>
                <a:ea typeface="Open Sans"/>
              </a:rPr>
              <a:t>uakes </a:t>
            </a:r>
            <a:r>
              <a:rPr b="0" lang="en" sz="1600" spc="-1" strike="noStrike">
                <a:solidFill>
                  <a:srgbClr val="332e2a"/>
                </a:solidFill>
                <a:latin typeface="Open Sans"/>
                <a:ea typeface="Open Sans"/>
              </a:rPr>
              <a:t>using </a:t>
            </a:r>
            <a:r>
              <a:rPr b="0" lang="en" sz="1600" spc="-1" strike="noStrike">
                <a:solidFill>
                  <a:srgbClr val="332e2a"/>
                </a:solidFill>
                <a:latin typeface="Open Sans"/>
                <a:ea typeface="Open Sans"/>
              </a:rPr>
              <a:t>data?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600" spc="-1" strike="noStrike">
              <a:latin typeface="Arial"/>
            </a:endParaRPr>
          </a:p>
        </p:txBody>
      </p:sp>
      <p:sp>
        <p:nvSpPr>
          <p:cNvPr id="85" name="Google Shape;120;p1"/>
          <p:cNvSpPr/>
          <p:nvPr/>
        </p:nvSpPr>
        <p:spPr>
          <a:xfrm>
            <a:off x="810000" y="4249440"/>
            <a:ext cx="4287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Mohaddeseh Mojahed</a:t>
            </a:r>
            <a:br>
              <a:rPr sz="1800"/>
            </a:br>
            <a:r>
              <a:rPr b="0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Zanyar Ghazali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125;g361f05e3fa5_0_9"/>
          <p:cNvSpPr/>
          <p:nvPr/>
        </p:nvSpPr>
        <p:spPr>
          <a:xfrm>
            <a:off x="825480" y="611280"/>
            <a:ext cx="2999520" cy="57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600" spc="-1" strike="noStrike">
                <a:solidFill>
                  <a:srgbClr val="a14342"/>
                </a:solidFill>
                <a:latin typeface="Anybody"/>
                <a:ea typeface="Anybody"/>
              </a:rPr>
              <a:t>Introduction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87" name="Google Shape;126;g361f05e3fa5_0_9"/>
          <p:cNvSpPr/>
          <p:nvPr/>
        </p:nvSpPr>
        <p:spPr>
          <a:xfrm>
            <a:off x="825480" y="1368000"/>
            <a:ext cx="4019760" cy="279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</a:pPr>
            <a:r>
              <a:rPr b="0" lang="en" sz="1200" spc="-1" strike="noStrike">
                <a:solidFill>
                  <a:srgbClr val="332e2a"/>
                </a:solidFill>
                <a:latin typeface="Open Sans"/>
                <a:ea typeface="Open Sans"/>
              </a:rPr>
              <a:t>Accurate earthquake magnitude prediction is crucial for disaster management.</a:t>
            </a:r>
            <a:br>
              <a:rPr sz="1200"/>
            </a:br>
            <a:r>
              <a:rPr b="0" lang="en" sz="1200" spc="-1" strike="noStrike">
                <a:solidFill>
                  <a:srgbClr val="332e2a"/>
                </a:solidFill>
                <a:latin typeface="Open Sans"/>
              </a:rPr>
              <a:t> </a:t>
            </a:r>
            <a:endParaRPr b="0" lang="en-US" sz="1200" spc="-1" strike="noStrike"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" sz="1200" spc="-1" strike="noStrike">
                <a:solidFill>
                  <a:srgbClr val="332e2a"/>
                </a:solidFill>
                <a:latin typeface="Open Sans"/>
                <a:ea typeface="Open Sans"/>
              </a:rPr>
              <a:t>This project uses seismic data from 1965 to 2016 to develop machine learning models for forecasting earthquake magnitude.</a:t>
            </a:r>
            <a:br>
              <a:rPr sz="1200"/>
            </a:br>
            <a:r>
              <a:rPr b="0" lang="en" sz="1200" spc="-1" strike="noStrike">
                <a:solidFill>
                  <a:srgbClr val="332e2a"/>
                </a:solidFill>
                <a:latin typeface="Open Sans"/>
              </a:rPr>
              <a:t> </a:t>
            </a:r>
            <a:endParaRPr b="0" lang="en-US" sz="1200" spc="-1" strike="noStrike"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" sz="1200" spc="-1" strike="noStrike">
                <a:solidFill>
                  <a:srgbClr val="332e2a"/>
                </a:solidFill>
                <a:latin typeface="Open Sans"/>
                <a:ea typeface="Open Sans"/>
              </a:rPr>
              <a:t>Our objective is to assess the potential of data-driven methods to improve prediction accuracy.</a:t>
            </a:r>
            <a:br>
              <a:rPr sz="1200"/>
            </a:br>
            <a:r>
              <a:rPr b="0" lang="en" sz="1200" spc="-1" strike="noStrike">
                <a:solidFill>
                  <a:srgbClr val="332e2a"/>
                </a:solidFill>
                <a:latin typeface="Open Sans"/>
              </a:rPr>
              <a:t> 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</p:txBody>
      </p:sp>
      <p:pic>
        <p:nvPicPr>
          <p:cNvPr id="88" name="Google Shape;127;g361f05e3fa5_0_9" descr=""/>
          <p:cNvPicPr/>
          <p:nvPr/>
        </p:nvPicPr>
        <p:blipFill>
          <a:blip r:embed="rId1"/>
          <a:stretch/>
        </p:blipFill>
        <p:spPr>
          <a:xfrm>
            <a:off x="5028480" y="574920"/>
            <a:ext cx="3993480" cy="3993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132;p3"/>
          <p:cNvSpPr/>
          <p:nvPr/>
        </p:nvSpPr>
        <p:spPr>
          <a:xfrm>
            <a:off x="8460000" y="-25200"/>
            <a:ext cx="360" cy="5243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a1434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Google Shape;133;p3"/>
          <p:cNvSpPr/>
          <p:nvPr/>
        </p:nvSpPr>
        <p:spPr>
          <a:xfrm>
            <a:off x="1939680" y="453960"/>
            <a:ext cx="526428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600" spc="-1" strike="noStrike">
                <a:solidFill>
                  <a:srgbClr val="a14342"/>
                </a:solidFill>
                <a:latin typeface="Anybody"/>
                <a:ea typeface="Anybody"/>
              </a:rPr>
              <a:t>Data Source &amp; Preprocessing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91" name="Google Shape;134;p3"/>
          <p:cNvSpPr/>
          <p:nvPr/>
        </p:nvSpPr>
        <p:spPr>
          <a:xfrm>
            <a:off x="729360" y="977400"/>
            <a:ext cx="5759640" cy="17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 indent="-30492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</a:pPr>
            <a:r>
              <a:rPr b="1" lang="en" sz="1200" spc="-1" strike="noStrike">
                <a:solidFill>
                  <a:srgbClr val="000000"/>
                </a:solidFill>
                <a:latin typeface="Arial"/>
                <a:ea typeface="Arial"/>
              </a:rPr>
              <a:t>Dataset</a:t>
            </a:r>
            <a:r>
              <a:rPr b="0" lang="en" sz="1200" spc="-1" strike="noStrike">
                <a:solidFill>
                  <a:srgbClr val="000000"/>
                </a:solidFill>
                <a:latin typeface="Arial"/>
                <a:ea typeface="Arial"/>
              </a:rPr>
              <a:t>: Kaggle - Significant Earthquakes, 1965–2016</a:t>
            </a:r>
            <a:endParaRPr b="0" lang="en-US" sz="1200" spc="-1" strike="noStrike"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1" lang="en" sz="1200" spc="-1" strike="noStrike">
                <a:solidFill>
                  <a:srgbClr val="000000"/>
                </a:solidFill>
                <a:latin typeface="Arial"/>
                <a:ea typeface="Arial"/>
              </a:rPr>
              <a:t>Total Rows</a:t>
            </a:r>
            <a:r>
              <a:rPr b="0" lang="en" sz="1200" spc="-1" strike="noStrike">
                <a:solidFill>
                  <a:srgbClr val="000000"/>
                </a:solidFill>
                <a:latin typeface="Arial"/>
                <a:ea typeface="Arial"/>
              </a:rPr>
              <a:t>: 23,409</a:t>
            </a:r>
            <a:endParaRPr b="0" lang="en-US" sz="1200" spc="-1" strike="noStrike"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1" lang="en" sz="1200" spc="-1" strike="noStrike">
                <a:solidFill>
                  <a:srgbClr val="000000"/>
                </a:solidFill>
                <a:latin typeface="Arial"/>
                <a:ea typeface="Arial"/>
              </a:rPr>
              <a:t>Period Covered</a:t>
            </a:r>
            <a:r>
              <a:rPr b="0" lang="en" sz="1200" spc="-1" strike="noStrike">
                <a:solidFill>
                  <a:srgbClr val="000000"/>
                </a:solidFill>
                <a:latin typeface="Arial"/>
                <a:ea typeface="Arial"/>
              </a:rPr>
              <a:t>: 1965–2016</a:t>
            </a:r>
            <a:endParaRPr b="0" lang="en-US" sz="1200" spc="-1" strike="noStrike"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1" lang="en" sz="1200" spc="-1" strike="noStrike">
                <a:solidFill>
                  <a:srgbClr val="000000"/>
                </a:solidFill>
                <a:latin typeface="Arial"/>
                <a:ea typeface="Arial"/>
              </a:rPr>
              <a:t>Time-related features</a:t>
            </a:r>
            <a:r>
              <a:rPr b="0" lang="en" sz="1200" spc="-1" strike="noStrike">
                <a:solidFill>
                  <a:srgbClr val="000000"/>
                </a:solidFill>
                <a:latin typeface="Arial"/>
                <a:ea typeface="Arial"/>
              </a:rPr>
              <a:t>: Date, Time</a:t>
            </a:r>
            <a:endParaRPr b="0" lang="en-US" sz="1200" spc="-1" strike="noStrike"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1" lang="en" sz="1200" spc="-1" strike="noStrike">
                <a:solidFill>
                  <a:srgbClr val="000000"/>
                </a:solidFill>
                <a:latin typeface="Arial"/>
                <a:ea typeface="Arial"/>
              </a:rPr>
              <a:t>Location-related features</a:t>
            </a:r>
            <a:r>
              <a:rPr b="0" lang="en" sz="1200" spc="-1" strike="noStrike">
                <a:solidFill>
                  <a:srgbClr val="000000"/>
                </a:solidFill>
                <a:latin typeface="Arial"/>
                <a:ea typeface="Arial"/>
              </a:rPr>
              <a:t>: Latitude, Longitude, Depth</a:t>
            </a:r>
            <a:endParaRPr b="0" lang="en-US" sz="1200" spc="-1" strike="noStrike"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1" lang="en" sz="1200" spc="-1" strike="noStrike">
                <a:solidFill>
                  <a:srgbClr val="000000"/>
                </a:solidFill>
                <a:latin typeface="Arial"/>
                <a:ea typeface="Arial"/>
              </a:rPr>
              <a:t>Magnitude-related features</a:t>
            </a:r>
            <a:r>
              <a:rPr b="0" lang="en" sz="1200" spc="-1" strike="noStrike">
                <a:solidFill>
                  <a:srgbClr val="000000"/>
                </a:solidFill>
                <a:latin typeface="Arial"/>
                <a:ea typeface="Arial"/>
              </a:rPr>
              <a:t>: ID, Source, Location Source, Magnitude Source, Status, Magnitude</a:t>
            </a:r>
            <a:br>
              <a:rPr sz="1200"/>
            </a:br>
            <a:r>
              <a:rPr b="0" lang="en" sz="1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300" spc="-1" strike="noStrike">
              <a:latin typeface="Arial"/>
            </a:endParaRPr>
          </a:p>
        </p:txBody>
      </p:sp>
      <p:pic>
        <p:nvPicPr>
          <p:cNvPr id="92" name="Google Shape;135;p3" descr=""/>
          <p:cNvPicPr/>
          <p:nvPr/>
        </p:nvPicPr>
        <p:blipFill>
          <a:blip r:embed="rId1"/>
          <a:stretch/>
        </p:blipFill>
        <p:spPr>
          <a:xfrm>
            <a:off x="3462120" y="2459520"/>
            <a:ext cx="4936680" cy="2462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140;p4"/>
          <p:cNvSpPr/>
          <p:nvPr/>
        </p:nvSpPr>
        <p:spPr>
          <a:xfrm>
            <a:off x="2671200" y="608040"/>
            <a:ext cx="5443200" cy="12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600" spc="-1" strike="noStrike">
                <a:solidFill>
                  <a:srgbClr val="a14342"/>
                </a:solidFill>
                <a:latin typeface="Anybody"/>
                <a:ea typeface="Anybody"/>
              </a:rPr>
              <a:t>Feature Engineering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600" spc="-1" strike="noStrike">
              <a:latin typeface="Arial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191240" y="2786400"/>
            <a:ext cx="3419640" cy="16185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marL="457200" indent="-29772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</a:pP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Re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mov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ed 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high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-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mis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sing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-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valu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e 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colu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mns</a:t>
            </a:r>
            <a:endParaRPr b="0" lang="en-US" sz="1090" spc="-1" strike="noStrike">
              <a:solidFill>
                <a:srgbClr val="000000"/>
              </a:solidFill>
              <a:latin typeface="Arial"/>
            </a:endParaRPr>
          </a:p>
          <a:p>
            <a:pPr marL="457200" indent="-29772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Extr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acte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d </a:t>
            </a:r>
            <a:r>
              <a:rPr b="1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Yea</a:t>
            </a:r>
            <a:r>
              <a:rPr b="1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r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, </a:t>
            </a:r>
            <a:r>
              <a:rPr b="1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Mon</a:t>
            </a:r>
            <a:r>
              <a:rPr b="1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th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, 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and </a:t>
            </a:r>
            <a:r>
              <a:rPr b="1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Day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from 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the </a:t>
            </a:r>
            <a:r>
              <a:rPr b="0" lang="en" sz="1090" spc="-1" strike="noStrike">
                <a:solidFill>
                  <a:srgbClr val="188038"/>
                </a:solidFill>
                <a:latin typeface="Roboto Mono"/>
                <a:ea typeface="Roboto Mono"/>
              </a:rPr>
              <a:t>Dat</a:t>
            </a:r>
            <a:r>
              <a:rPr b="0" lang="en" sz="1090" spc="-1" strike="noStrike">
                <a:solidFill>
                  <a:srgbClr val="188038"/>
                </a:solidFill>
                <a:latin typeface="Roboto Mono"/>
                <a:ea typeface="Roboto Mono"/>
              </a:rPr>
              <a:t>e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colu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mn</a:t>
            </a:r>
            <a:br>
              <a:rPr sz="1090"/>
            </a:br>
            <a:r>
              <a:rPr b="0" lang="en" sz="109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1090" spc="-1" strike="noStrike">
              <a:solidFill>
                <a:srgbClr val="000000"/>
              </a:solidFill>
              <a:latin typeface="Arial"/>
            </a:endParaRPr>
          </a:p>
          <a:p>
            <a:pPr marL="457200" indent="-29772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Cat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egor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ized 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eart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hqu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ake </a:t>
            </a:r>
            <a:r>
              <a:rPr b="1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mag</a:t>
            </a:r>
            <a:r>
              <a:rPr b="1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nitu</a:t>
            </a:r>
            <a:r>
              <a:rPr b="1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de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into 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level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s: </a:t>
            </a:r>
            <a:r>
              <a:rPr b="0" i="1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Low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, </a:t>
            </a:r>
            <a:r>
              <a:rPr b="0" i="1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Mod</a:t>
            </a:r>
            <a:r>
              <a:rPr b="0" i="1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erat</a:t>
            </a:r>
            <a:r>
              <a:rPr b="0" i="1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e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, </a:t>
            </a:r>
            <a:r>
              <a:rPr b="0" i="1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Stro</a:t>
            </a:r>
            <a:r>
              <a:rPr b="0" i="1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ng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, 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and </a:t>
            </a:r>
            <a:r>
              <a:rPr b="0" i="1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Sev</a:t>
            </a:r>
            <a:r>
              <a:rPr b="0" i="1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ere</a:t>
            </a:r>
            <a:br>
              <a:rPr sz="1090"/>
            </a:br>
            <a:r>
              <a:rPr b="0" i="1" lang="en" sz="109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1090" spc="-1" strike="noStrike">
              <a:solidFill>
                <a:srgbClr val="000000"/>
              </a:solidFill>
              <a:latin typeface="Arial"/>
            </a:endParaRPr>
          </a:p>
          <a:p>
            <a:pPr marL="457200" indent="-29772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Appl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ied </a:t>
            </a:r>
            <a:r>
              <a:rPr b="1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one</a:t>
            </a:r>
            <a:r>
              <a:rPr b="1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-hot </a:t>
            </a:r>
            <a:r>
              <a:rPr b="1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enc</a:t>
            </a:r>
            <a:r>
              <a:rPr b="1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odi</a:t>
            </a:r>
            <a:r>
              <a:rPr b="1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ng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to 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mag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nitu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de 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cate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gori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es</a:t>
            </a:r>
            <a:br>
              <a:rPr sz="1090"/>
            </a:br>
            <a:r>
              <a:rPr b="0" lang="en" sz="109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1090" spc="-1" strike="noStrike">
              <a:solidFill>
                <a:srgbClr val="000000"/>
              </a:solidFill>
              <a:latin typeface="Arial"/>
            </a:endParaRPr>
          </a:p>
          <a:p>
            <a:pPr marL="457200" indent="-29772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Han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dled </a:t>
            </a:r>
            <a:r>
              <a:rPr b="1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outl</a:t>
            </a:r>
            <a:r>
              <a:rPr b="1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iers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in 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num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eric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al 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feat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ures 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to 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impr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ove 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mod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el 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robu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stne</a:t>
            </a:r>
            <a:r>
              <a:rPr b="0" lang="en" sz="1090" spc="-1" strike="noStrike">
                <a:solidFill>
                  <a:srgbClr val="000000"/>
                </a:solidFill>
                <a:latin typeface="Arial"/>
                <a:ea typeface="Arial"/>
              </a:rPr>
              <a:t>ss</a:t>
            </a:r>
            <a:br>
              <a:rPr sz="1090"/>
            </a:br>
            <a:r>
              <a:rPr b="0" lang="en" sz="109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109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1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Google Shape;142;p4" descr=""/>
          <p:cNvPicPr/>
          <p:nvPr/>
        </p:nvPicPr>
        <p:blipFill>
          <a:blip r:embed="rId1"/>
          <a:srcRect l="0" t="3087" r="0" b="0"/>
          <a:stretch/>
        </p:blipFill>
        <p:spPr>
          <a:xfrm>
            <a:off x="5242680" y="1225440"/>
            <a:ext cx="3419640" cy="1937160"/>
          </a:xfrm>
          <a:prstGeom prst="rect">
            <a:avLst/>
          </a:prstGeom>
          <a:ln w="0">
            <a:noFill/>
          </a:ln>
        </p:spPr>
      </p:pic>
      <p:pic>
        <p:nvPicPr>
          <p:cNvPr id="96" name="Google Shape;143;p4" descr=""/>
          <p:cNvPicPr/>
          <p:nvPr/>
        </p:nvPicPr>
        <p:blipFill>
          <a:blip r:embed="rId2"/>
          <a:stretch/>
        </p:blipFill>
        <p:spPr>
          <a:xfrm>
            <a:off x="5242680" y="3163320"/>
            <a:ext cx="3419640" cy="1876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156;g361f05e3fa5_0_33"/>
          <p:cNvSpPr/>
          <p:nvPr/>
        </p:nvSpPr>
        <p:spPr>
          <a:xfrm>
            <a:off x="871200" y="1444320"/>
            <a:ext cx="6198120" cy="17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Local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geological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information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was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extracted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for each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earthquake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using two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global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geophysical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datasets:</a:t>
            </a:r>
            <a:endParaRPr b="0" lang="en-US" sz="1100" spc="-1" strike="noStrike"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rgbClr val="188038"/>
                </a:solidFill>
                <a:latin typeface="Roboto Mono"/>
                <a:ea typeface="Roboto Mono"/>
              </a:rPr>
              <a:t>mo</a:t>
            </a:r>
            <a:r>
              <a:rPr b="0" lang="en" sz="1100" spc="-1" strike="noStrike">
                <a:solidFill>
                  <a:srgbClr val="188038"/>
                </a:solidFill>
                <a:latin typeface="Roboto Mono"/>
                <a:ea typeface="Roboto Mono"/>
              </a:rPr>
              <a:t>ho_</a:t>
            </a:r>
            <a:r>
              <a:rPr b="0" lang="en" sz="1100" spc="-1" strike="noStrike">
                <a:solidFill>
                  <a:srgbClr val="188038"/>
                </a:solidFill>
                <a:latin typeface="Roboto Mono"/>
                <a:ea typeface="Roboto Mono"/>
              </a:rPr>
              <a:t>dep</a:t>
            </a:r>
            <a:r>
              <a:rPr b="0" lang="en" sz="1100" spc="-1" strike="noStrike">
                <a:solidFill>
                  <a:srgbClr val="188038"/>
                </a:solidFill>
                <a:latin typeface="Roboto Mono"/>
                <a:ea typeface="Roboto Mono"/>
              </a:rPr>
              <a:t>th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: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Dep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th of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the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Moh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o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disc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onti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nuit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y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(the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bou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ndar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y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bet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wee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n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Eart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h's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crus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t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and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man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tle)</a:t>
            </a:r>
            <a:endParaRPr b="0" lang="en-US" sz="1100" spc="-1" strike="noStrike"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rgbClr val="188038"/>
                </a:solidFill>
                <a:latin typeface="Roboto Mono"/>
                <a:ea typeface="Roboto Mono"/>
              </a:rPr>
              <a:t>cru</a:t>
            </a:r>
            <a:r>
              <a:rPr b="0" lang="en" sz="1100" spc="-1" strike="noStrike">
                <a:solidFill>
                  <a:srgbClr val="188038"/>
                </a:solidFill>
                <a:latin typeface="Roboto Mono"/>
                <a:ea typeface="Roboto Mono"/>
              </a:rPr>
              <a:t>stal</a:t>
            </a:r>
            <a:r>
              <a:rPr b="0" lang="en" sz="1100" spc="-1" strike="noStrike">
                <a:solidFill>
                  <a:srgbClr val="188038"/>
                </a:solidFill>
                <a:latin typeface="Roboto Mono"/>
                <a:ea typeface="Roboto Mono"/>
              </a:rPr>
              <a:t>_thi</a:t>
            </a:r>
            <a:r>
              <a:rPr b="0" lang="en" sz="1100" spc="-1" strike="noStrike">
                <a:solidFill>
                  <a:srgbClr val="188038"/>
                </a:solidFill>
                <a:latin typeface="Roboto Mono"/>
                <a:ea typeface="Roboto Mono"/>
              </a:rPr>
              <a:t>ckn</a:t>
            </a:r>
            <a:r>
              <a:rPr b="0" lang="en" sz="1100" spc="-1" strike="noStrike">
                <a:solidFill>
                  <a:srgbClr val="188038"/>
                </a:solidFill>
                <a:latin typeface="Roboto Mono"/>
                <a:ea typeface="Roboto Mono"/>
              </a:rPr>
              <a:t>ess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: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Thic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kne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ss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of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the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Eart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h's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crus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t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These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values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were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interpolated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from global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geophysical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maps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based on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each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earthquake'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s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coordinates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8" name="Google Shape;157;g361f05e3fa5_0_33"/>
          <p:cNvSpPr/>
          <p:nvPr/>
        </p:nvSpPr>
        <p:spPr>
          <a:xfrm>
            <a:off x="1887840" y="420480"/>
            <a:ext cx="5280840" cy="57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600" spc="-1" strike="noStrike">
                <a:solidFill>
                  <a:srgbClr val="a14342"/>
                </a:solidFill>
                <a:latin typeface="Anybody"/>
                <a:ea typeface="Anybody"/>
              </a:rPr>
              <a:t>Adv</a:t>
            </a:r>
            <a:r>
              <a:rPr b="0" lang="en" sz="2600" spc="-1" strike="noStrike">
                <a:solidFill>
                  <a:srgbClr val="a14342"/>
                </a:solidFill>
                <a:latin typeface="Anybody"/>
                <a:ea typeface="Anybody"/>
              </a:rPr>
              <a:t>anc</a:t>
            </a:r>
            <a:r>
              <a:rPr b="0" lang="en" sz="2600" spc="-1" strike="noStrike">
                <a:solidFill>
                  <a:srgbClr val="a14342"/>
                </a:solidFill>
                <a:latin typeface="Anybody"/>
                <a:ea typeface="Anybody"/>
              </a:rPr>
              <a:t>ed </a:t>
            </a:r>
            <a:r>
              <a:rPr b="0" lang="en" sz="2600" spc="-1" strike="noStrike">
                <a:solidFill>
                  <a:srgbClr val="a14342"/>
                </a:solidFill>
                <a:latin typeface="Anybody"/>
                <a:ea typeface="Anybody"/>
              </a:rPr>
              <a:t>Feat</a:t>
            </a:r>
            <a:r>
              <a:rPr b="0" lang="en" sz="2600" spc="-1" strike="noStrike">
                <a:solidFill>
                  <a:srgbClr val="a14342"/>
                </a:solidFill>
                <a:latin typeface="Anybody"/>
                <a:ea typeface="Anybody"/>
              </a:rPr>
              <a:t>ure </a:t>
            </a:r>
            <a:r>
              <a:rPr b="0" lang="en" sz="2600" spc="-1" strike="noStrike">
                <a:solidFill>
                  <a:srgbClr val="a14342"/>
                </a:solidFill>
                <a:latin typeface="Anybody"/>
                <a:ea typeface="Anybody"/>
              </a:rPr>
              <a:t>Engi</a:t>
            </a:r>
            <a:r>
              <a:rPr b="0" lang="en" sz="2600" spc="-1" strike="noStrike">
                <a:solidFill>
                  <a:srgbClr val="a14342"/>
                </a:solidFill>
                <a:latin typeface="Anybody"/>
                <a:ea typeface="Anybody"/>
              </a:rPr>
              <a:t>nee</a:t>
            </a:r>
            <a:r>
              <a:rPr b="0" lang="en" sz="2600" spc="-1" strike="noStrike">
                <a:solidFill>
                  <a:srgbClr val="a14342"/>
                </a:solidFill>
                <a:latin typeface="Anybody"/>
                <a:ea typeface="Anybody"/>
              </a:rPr>
              <a:t>ring</a:t>
            </a:r>
            <a:endParaRPr b="0" lang="en-US" sz="2600" spc="-1" strike="noStrike">
              <a:latin typeface="Arial"/>
            </a:endParaRPr>
          </a:p>
        </p:txBody>
      </p:sp>
      <p:pic>
        <p:nvPicPr>
          <p:cNvPr id="99" name="Google Shape;158;g361f05e3fa5_0_33" descr=""/>
          <p:cNvPicPr/>
          <p:nvPr/>
        </p:nvPicPr>
        <p:blipFill>
          <a:blip r:embed="rId1"/>
          <a:stretch/>
        </p:blipFill>
        <p:spPr>
          <a:xfrm>
            <a:off x="6641640" y="2675160"/>
            <a:ext cx="2342880" cy="2230920"/>
          </a:xfrm>
          <a:prstGeom prst="rect">
            <a:avLst/>
          </a:prstGeom>
          <a:ln w="0">
            <a:noFill/>
          </a:ln>
        </p:spPr>
      </p:pic>
      <p:sp>
        <p:nvSpPr>
          <p:cNvPr id="100" name="Google Shape;159;g361f05e3fa5_0_33"/>
          <p:cNvSpPr/>
          <p:nvPr/>
        </p:nvSpPr>
        <p:spPr>
          <a:xfrm>
            <a:off x="1024200" y="4055760"/>
            <a:ext cx="382104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68480" bIns="16848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Moho,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boundary b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etween the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Earth's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crust and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its mantle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1" name="Google Shape;160;g361f05e3fa5_0_33"/>
          <p:cNvSpPr/>
          <p:nvPr/>
        </p:nvSpPr>
        <p:spPr>
          <a:xfrm>
            <a:off x="1024200" y="4348800"/>
            <a:ext cx="568584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68480" bIns="168480" anchor="t">
            <a:spAutoFit/>
          </a:bodyPr>
          <a:p>
            <a:pPr>
              <a:lnSpc>
                <a:spcPct val="100000"/>
              </a:lnSpc>
              <a:spcBef>
                <a:spcPts val="992"/>
              </a:spcBef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Global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observation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s show that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the crustal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thickness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varies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through the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tectonic 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regions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48;g361f05e3fa5_0_20" descr=""/>
          <p:cNvPicPr/>
          <p:nvPr/>
        </p:nvPicPr>
        <p:blipFill>
          <a:blip r:embed="rId1"/>
          <a:srcRect l="6661" t="0" r="1684" b="0"/>
          <a:stretch/>
        </p:blipFill>
        <p:spPr>
          <a:xfrm>
            <a:off x="4195800" y="1505520"/>
            <a:ext cx="4768560" cy="2575080"/>
          </a:xfrm>
          <a:prstGeom prst="rect">
            <a:avLst/>
          </a:prstGeom>
          <a:ln w="0">
            <a:noFill/>
          </a:ln>
        </p:spPr>
      </p:pic>
      <p:sp>
        <p:nvSpPr>
          <p:cNvPr id="103" name="Google Shape;149;g361f05e3fa5_0_20"/>
          <p:cNvSpPr/>
          <p:nvPr/>
        </p:nvSpPr>
        <p:spPr>
          <a:xfrm>
            <a:off x="473760" y="1170000"/>
            <a:ext cx="3790440" cy="36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For each earthquake, the nearest fault was searched within various radii (from 10 to 500 kilometers)</a:t>
            </a:r>
            <a:endParaRPr b="0" lang="en-US" sz="1100" spc="-1" strike="noStrike"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The geographic coordinates of each earthquake and fault were processed using </a:t>
            </a:r>
            <a:r>
              <a:rPr b="1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GeoPandas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en-US" sz="1100" spc="-1" strike="noStrike"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The following spatial features were added to the dataset:</a:t>
            </a:r>
            <a:endParaRPr b="0" lang="en-US" sz="1100" spc="-1" strike="noStrike">
              <a:latin typeface="Arial"/>
            </a:endParaRPr>
          </a:p>
          <a:p>
            <a:pPr lvl="1" marL="914400" indent="-298440">
              <a:lnSpc>
                <a:spcPct val="115000"/>
              </a:lnSpc>
              <a:buClr>
                <a:srgbClr val="000000"/>
              </a:buClr>
              <a:buFont typeface="Arial"/>
              <a:buChar char="○"/>
            </a:pPr>
            <a:r>
              <a:rPr b="0" lang="en" sz="1100" spc="-1" strike="noStrike">
                <a:solidFill>
                  <a:srgbClr val="188038"/>
                </a:solidFill>
                <a:latin typeface="Roboto Mono"/>
                <a:ea typeface="Roboto Mono"/>
              </a:rPr>
              <a:t>nearest_fault_id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: ID of the nearest fault</a:t>
            </a:r>
            <a:endParaRPr b="0" lang="en-US" sz="1100" spc="-1" strike="noStrike">
              <a:latin typeface="Arial"/>
            </a:endParaRPr>
          </a:p>
          <a:p>
            <a:pPr lvl="1" marL="914400" indent="-298440">
              <a:lnSpc>
                <a:spcPct val="115000"/>
              </a:lnSpc>
              <a:buClr>
                <a:srgbClr val="000000"/>
              </a:buClr>
              <a:buFont typeface="Arial"/>
              <a:buChar char="○"/>
            </a:pPr>
            <a:r>
              <a:rPr b="0" lang="en" sz="1100" spc="-1" strike="noStrike">
                <a:solidFill>
                  <a:srgbClr val="188038"/>
                </a:solidFill>
                <a:latin typeface="Roboto Mono"/>
                <a:ea typeface="Roboto Mono"/>
              </a:rPr>
              <a:t>nearest_fault_name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: Name of the fault</a:t>
            </a:r>
            <a:endParaRPr b="0" lang="en-US" sz="1100" spc="-1" strike="noStrike">
              <a:latin typeface="Arial"/>
            </a:endParaRPr>
          </a:p>
          <a:p>
            <a:pPr lvl="1" marL="914400" indent="-298440">
              <a:lnSpc>
                <a:spcPct val="115000"/>
              </a:lnSpc>
              <a:buClr>
                <a:srgbClr val="000000"/>
              </a:buClr>
              <a:buFont typeface="Arial"/>
              <a:buChar char="○"/>
            </a:pPr>
            <a:r>
              <a:rPr b="0" lang="en" sz="1100" spc="-1" strike="noStrike">
                <a:solidFill>
                  <a:srgbClr val="188038"/>
                </a:solidFill>
                <a:latin typeface="Roboto Mono"/>
                <a:ea typeface="Roboto Mono"/>
              </a:rPr>
              <a:t>distance_to_fault_km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: Distance from the earthquake to the nearest fault (in kilometers)</a:t>
            </a:r>
            <a:endParaRPr b="0" lang="en-US" sz="1100" spc="-1" strike="noStrike">
              <a:latin typeface="Arial"/>
            </a:endParaRPr>
          </a:p>
          <a:p>
            <a:pPr lvl="1" marL="914400" indent="-298440">
              <a:lnSpc>
                <a:spcPct val="115000"/>
              </a:lnSpc>
              <a:buClr>
                <a:srgbClr val="000000"/>
              </a:buClr>
              <a:buFont typeface="Arial"/>
              <a:buChar char="○"/>
            </a:pPr>
            <a:r>
              <a:rPr b="0" lang="en" sz="1100" spc="-1" strike="noStrike">
                <a:solidFill>
                  <a:srgbClr val="188038"/>
                </a:solidFill>
                <a:latin typeface="Roboto Mono"/>
                <a:ea typeface="Roboto Mono"/>
              </a:rPr>
              <a:t>fault_point_lat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: Latitude of the point on the fault closest to the earthquake</a:t>
            </a:r>
            <a:endParaRPr b="0" lang="en-US" sz="1100" spc="-1" strike="noStrike">
              <a:latin typeface="Arial"/>
            </a:endParaRPr>
          </a:p>
          <a:p>
            <a:pPr lvl="1" marL="914400" indent="-298440">
              <a:lnSpc>
                <a:spcPct val="115000"/>
              </a:lnSpc>
              <a:buClr>
                <a:srgbClr val="000000"/>
              </a:buClr>
              <a:buFont typeface="Arial"/>
              <a:buChar char="○"/>
            </a:pPr>
            <a:r>
              <a:rPr b="0" lang="en" sz="1100" spc="-1" strike="noStrike">
                <a:solidFill>
                  <a:srgbClr val="188038"/>
                </a:solidFill>
                <a:latin typeface="Roboto Mono"/>
                <a:ea typeface="Roboto Mono"/>
              </a:rPr>
              <a:t>fault_point_lon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: Longitude of that closest point</a:t>
            </a:r>
            <a:endParaRPr b="0" lang="en-US" sz="1100" spc="-1" strike="noStrike"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For earthquakes with no nearby faults, values were recorded as </a:t>
            </a:r>
            <a:r>
              <a:rPr b="0" lang="en" sz="1100" spc="-1" strike="noStrike">
                <a:solidFill>
                  <a:srgbClr val="188038"/>
                </a:solidFill>
                <a:latin typeface="Roboto Mono"/>
                <a:ea typeface="Roboto Mono"/>
              </a:rPr>
              <a:t>None</a:t>
            </a: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4" name="Google Shape;150;g361f05e3fa5_0_20"/>
          <p:cNvSpPr/>
          <p:nvPr/>
        </p:nvSpPr>
        <p:spPr>
          <a:xfrm>
            <a:off x="4623840" y="4127040"/>
            <a:ext cx="4392360" cy="35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75680" bIns="175680" anchor="t">
            <a:spAutoFit/>
          </a:bodyPr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rgbClr val="000000"/>
                </a:solidFill>
                <a:latin typeface="Arial"/>
                <a:ea typeface="Arial"/>
              </a:rPr>
              <a:t>A fault is a fracture or zone of fractures between two blocks of rock.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5" name="Google Shape;151;g361f05e3fa5_0_20"/>
          <p:cNvSpPr/>
          <p:nvPr/>
        </p:nvSpPr>
        <p:spPr>
          <a:xfrm>
            <a:off x="2155320" y="424440"/>
            <a:ext cx="5464080" cy="57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600" spc="-1" strike="noStrike">
                <a:solidFill>
                  <a:srgbClr val="a14342"/>
                </a:solidFill>
                <a:latin typeface="Anybody"/>
                <a:ea typeface="Anybody"/>
              </a:rPr>
              <a:t>Advanced Feature Engineering</a:t>
            </a:r>
            <a:endParaRPr b="0" lang="en-US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30640" y="516600"/>
            <a:ext cx="2615760" cy="8283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600" spc="-1" strike="noStrike">
                <a:solidFill>
                  <a:srgbClr val="a14342"/>
                </a:solidFill>
                <a:latin typeface="Anybody"/>
                <a:ea typeface="Anybody"/>
              </a:rPr>
              <a:t>Trai</a:t>
            </a:r>
            <a:r>
              <a:rPr b="0" lang="en" sz="2600" spc="-1" strike="noStrike">
                <a:solidFill>
                  <a:srgbClr val="a14342"/>
                </a:solidFill>
                <a:latin typeface="Anybody"/>
                <a:ea typeface="Anybody"/>
              </a:rPr>
              <a:t>n </a:t>
            </a:r>
            <a:r>
              <a:rPr b="0" lang="en" sz="2600" spc="-1" strike="noStrike">
                <a:solidFill>
                  <a:srgbClr val="a14342"/>
                </a:solidFill>
                <a:latin typeface="Anybody"/>
                <a:ea typeface="Anybody"/>
              </a:rPr>
              <a:t>mod</a:t>
            </a:r>
            <a:r>
              <a:rPr b="0" lang="en" sz="2600" spc="-1" strike="noStrike">
                <a:solidFill>
                  <a:srgbClr val="a14342"/>
                </a:solidFill>
                <a:latin typeface="Anybody"/>
                <a:ea typeface="Anybody"/>
              </a:rPr>
              <a:t>els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7" name="Google Shape;166;p6"/>
          <p:cNvGrpSpPr/>
          <p:nvPr/>
        </p:nvGrpSpPr>
        <p:grpSpPr>
          <a:xfrm>
            <a:off x="431280" y="-50400"/>
            <a:ext cx="8120880" cy="5243760"/>
            <a:chOff x="431280" y="-50400"/>
            <a:chExt cx="8120880" cy="5243760"/>
          </a:xfrm>
        </p:grpSpPr>
        <p:sp>
          <p:nvSpPr>
            <p:cNvPr id="108" name="Google Shape;167;p6"/>
            <p:cNvSpPr/>
            <p:nvPr/>
          </p:nvSpPr>
          <p:spPr>
            <a:xfrm>
              <a:off x="431280" y="-50400"/>
              <a:ext cx="720" cy="5243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525">
              <a:solidFill>
                <a:srgbClr val="a1434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Google Shape;168;p6"/>
            <p:cNvSpPr/>
            <p:nvPr/>
          </p:nvSpPr>
          <p:spPr>
            <a:xfrm>
              <a:off x="8551440" y="-50400"/>
              <a:ext cx="720" cy="5243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525">
              <a:solidFill>
                <a:srgbClr val="a1434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0" name="Google Shape;169;p6"/>
          <p:cNvSpPr/>
          <p:nvPr/>
        </p:nvSpPr>
        <p:spPr>
          <a:xfrm>
            <a:off x="473760" y="1092960"/>
            <a:ext cx="5311440" cy="212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110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</a:pPr>
            <a:r>
              <a:rPr b="0" lang="en" sz="1300" spc="-1" strike="noStrike">
                <a:solidFill>
                  <a:srgbClr val="000000"/>
                </a:solidFill>
                <a:latin typeface="Arial"/>
                <a:ea typeface="Arial"/>
              </a:rPr>
              <a:t>Models were trained on the </a:t>
            </a:r>
            <a:r>
              <a:rPr b="0" lang="en" sz="1300" spc="-1" strike="noStrike">
                <a:solidFill>
                  <a:srgbClr val="188038"/>
                </a:solidFill>
                <a:latin typeface="Roboto Mono"/>
                <a:ea typeface="Roboto Mono"/>
              </a:rPr>
              <a:t>engineered_dataset.csv</a:t>
            </a:r>
            <a:r>
              <a:rPr b="0" lang="en" sz="1300" spc="-1" strike="noStrike">
                <a:solidFill>
                  <a:srgbClr val="000000"/>
                </a:solidFill>
                <a:latin typeface="Arial"/>
                <a:ea typeface="Arial"/>
              </a:rPr>
              <a:t> file.</a:t>
            </a:r>
            <a:endParaRPr b="0" lang="en-US" sz="1300" spc="-1" strike="noStrike"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" sz="1300" spc="-1" strike="noStrike">
                <a:solidFill>
                  <a:srgbClr val="000000"/>
                </a:solidFill>
                <a:latin typeface="Arial"/>
                <a:ea typeface="Arial"/>
              </a:rPr>
              <a:t>Due to the complex nature of earthquakes (non-linearity, high noise, and lack of clear patterns), the models did not achieve high accuracy.</a:t>
            </a:r>
            <a:br>
              <a:rPr sz="1300"/>
            </a:br>
            <a:r>
              <a:rPr b="0" lang="en" sz="13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1300" spc="-1" strike="noStrike"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" sz="1300" spc="-1" strike="noStrike">
                <a:solidFill>
                  <a:srgbClr val="000000"/>
                </a:solidFill>
                <a:latin typeface="Arial"/>
                <a:ea typeface="Arial"/>
              </a:rPr>
              <a:t>The primary evaluation metric was </a:t>
            </a:r>
            <a:r>
              <a:rPr b="1" lang="en" sz="1300" spc="-1" strike="noStrike">
                <a:solidFill>
                  <a:srgbClr val="000000"/>
                </a:solidFill>
                <a:latin typeface="Arial"/>
                <a:ea typeface="Arial"/>
              </a:rPr>
              <a:t>RMSE</a:t>
            </a:r>
            <a:r>
              <a:rPr b="0" lang="en" sz="1300" spc="-1" strike="noStrike">
                <a:solidFill>
                  <a:srgbClr val="000000"/>
                </a:solidFill>
                <a:latin typeface="Arial"/>
                <a:ea typeface="Arial"/>
              </a:rPr>
              <a:t> (Root Mean Squared Error), which was around </a:t>
            </a:r>
            <a:r>
              <a:rPr b="1" lang="en" sz="1300" spc="-1" strike="noStrike">
                <a:solidFill>
                  <a:srgbClr val="000000"/>
                </a:solidFill>
                <a:latin typeface="Arial"/>
                <a:ea typeface="Arial"/>
              </a:rPr>
              <a:t>0.4</a:t>
            </a:r>
            <a:r>
              <a:rPr b="0" lang="en" sz="1300" spc="-1" strike="noStrike">
                <a:solidFill>
                  <a:srgbClr val="000000"/>
                </a:solidFill>
                <a:latin typeface="Arial"/>
                <a:ea typeface="Arial"/>
              </a:rPr>
              <a:t> across all models.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300" spc="-1" strike="noStrike">
              <a:latin typeface="Arial"/>
            </a:endParaRPr>
          </a:p>
        </p:txBody>
      </p:sp>
      <p:graphicFrame>
        <p:nvGraphicFramePr>
          <p:cNvPr id="111" name="Google Shape;170;p6"/>
          <p:cNvGraphicFramePr/>
          <p:nvPr/>
        </p:nvGraphicFramePr>
        <p:xfrm>
          <a:off x="5088240" y="2155680"/>
          <a:ext cx="3157920" cy="2819160"/>
        </p:xfrm>
        <a:graphic>
          <a:graphicData uri="http://schemas.openxmlformats.org/drawingml/2006/table">
            <a:tbl>
              <a:tblPr/>
              <a:tblGrid>
                <a:gridCol w="1287360"/>
                <a:gridCol w="728640"/>
                <a:gridCol w="582840"/>
                <a:gridCol w="559080"/>
              </a:tblGrid>
              <a:tr h="567000">
                <a:tc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R² Score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RMSE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MAE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2188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Random Forest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-0.0520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0.4283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0.3172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87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XGBoost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0.0281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0.4117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0.3048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2188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Neural Network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-0.0372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0.4253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0.3174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75;g361f05e3fa5_2_0"/>
          <p:cNvSpPr/>
          <p:nvPr/>
        </p:nvSpPr>
        <p:spPr>
          <a:xfrm>
            <a:off x="343800" y="982440"/>
            <a:ext cx="4164840" cy="218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" sz="1200" spc="-1" strike="noStrike">
                <a:solidFill>
                  <a:srgbClr val="000000"/>
                </a:solidFill>
                <a:latin typeface="Arial"/>
                <a:ea typeface="Arial"/>
              </a:rPr>
              <a:t>Reframing the Problem: Predicting Magnitude Category Instead of Exact Value</a:t>
            </a:r>
            <a:endParaRPr b="0" lang="en-US" sz="1200" spc="-1" strike="noStrike">
              <a:latin typeface="Arial"/>
            </a:endParaRPr>
          </a:p>
          <a:p>
            <a:pPr marL="457200" indent="-30492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" sz="1200" spc="-1" strike="noStrike">
                <a:solidFill>
                  <a:srgbClr val="000000"/>
                </a:solidFill>
                <a:latin typeface="Arial"/>
                <a:ea typeface="Arial"/>
              </a:rPr>
              <a:t>Low</a:t>
            </a:r>
            <a:r>
              <a:rPr b="0" lang="en" sz="1200" spc="-1" strike="noStrike">
                <a:solidFill>
                  <a:srgbClr val="000000"/>
                </a:solidFill>
                <a:latin typeface="Arial"/>
                <a:ea typeface="Arial"/>
              </a:rPr>
              <a:t>: mag &lt; 5</a:t>
            </a:r>
            <a:endParaRPr b="0" lang="en-US" sz="1200" spc="-1" strike="noStrike"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" sz="1200" spc="-1" strike="noStrike">
                <a:solidFill>
                  <a:srgbClr val="000000"/>
                </a:solidFill>
                <a:latin typeface="Arial"/>
                <a:ea typeface="Arial"/>
              </a:rPr>
              <a:t>Moderate</a:t>
            </a:r>
            <a:r>
              <a:rPr b="0" lang="en" sz="1200" spc="-1" strike="noStrike">
                <a:solidFill>
                  <a:srgbClr val="000000"/>
                </a:solidFill>
                <a:latin typeface="Arial"/>
                <a:ea typeface="Arial"/>
              </a:rPr>
              <a:t>: 5 ≤ mag &lt; 6</a:t>
            </a:r>
            <a:endParaRPr b="0" lang="en-US" sz="1200" spc="-1" strike="noStrike"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" sz="1200" spc="-1" strike="noStrike">
                <a:solidFill>
                  <a:srgbClr val="000000"/>
                </a:solidFill>
                <a:latin typeface="Arial"/>
                <a:ea typeface="Arial"/>
              </a:rPr>
              <a:t>Strong</a:t>
            </a:r>
            <a:r>
              <a:rPr b="0" lang="en" sz="1200" spc="-1" strike="noStrike">
                <a:solidFill>
                  <a:srgbClr val="000000"/>
                </a:solidFill>
                <a:latin typeface="Arial"/>
                <a:ea typeface="Arial"/>
              </a:rPr>
              <a:t>: 6 ≤ mag &lt; 7</a:t>
            </a:r>
            <a:endParaRPr b="0" lang="en-US" sz="1200" spc="-1" strike="noStrike"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" sz="1200" spc="-1" strike="noStrike">
                <a:solidFill>
                  <a:srgbClr val="000000"/>
                </a:solidFill>
                <a:latin typeface="Arial"/>
                <a:ea typeface="Arial"/>
              </a:rPr>
              <a:t>Severe</a:t>
            </a:r>
            <a:r>
              <a:rPr b="0" lang="en" sz="1200" spc="-1" strike="noStrike">
                <a:solidFill>
                  <a:srgbClr val="000000"/>
                </a:solidFill>
                <a:latin typeface="Arial"/>
                <a:ea typeface="Arial"/>
              </a:rPr>
              <a:t>: mag ≥ 7</a:t>
            </a:r>
            <a:br>
              <a:rPr sz="1200"/>
            </a:br>
            <a:r>
              <a:rPr b="0" lang="en" sz="1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700" spc="-1" strike="noStrike">
              <a:latin typeface="Arial"/>
            </a:endParaRPr>
          </a:p>
        </p:txBody>
      </p:sp>
      <p:sp>
        <p:nvSpPr>
          <p:cNvPr id="113" name="Google Shape;176;g361f05e3fa5_2_0"/>
          <p:cNvSpPr/>
          <p:nvPr/>
        </p:nvSpPr>
        <p:spPr>
          <a:xfrm>
            <a:off x="2850840" y="397440"/>
            <a:ext cx="3920400" cy="57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600" spc="-1" strike="noStrike">
                <a:solidFill>
                  <a:srgbClr val="a14342"/>
                </a:solidFill>
                <a:latin typeface="Anybody"/>
                <a:ea typeface="Anybody"/>
              </a:rPr>
              <a:t>Classification model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14" name="Google Shape;177;g361f05e3fa5_2_0"/>
          <p:cNvSpPr/>
          <p:nvPr/>
        </p:nvSpPr>
        <p:spPr>
          <a:xfrm>
            <a:off x="183600" y="2873520"/>
            <a:ext cx="437868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300" spc="-1" strike="noStrike">
                <a:solidFill>
                  <a:srgbClr val="000000"/>
                </a:solidFill>
                <a:latin typeface="Arial"/>
                <a:ea typeface="Arial"/>
              </a:rPr>
              <a:t>🔹  </a:t>
            </a:r>
            <a:r>
              <a:rPr b="0" lang="en" sz="1300" spc="-1" strike="noStrike">
                <a:solidFill>
                  <a:srgbClr val="188038"/>
                </a:solidFill>
                <a:latin typeface="Roboto Mono"/>
                <a:ea typeface="Roboto Mono"/>
              </a:rPr>
              <a:t>Random Forest – Classification Results</a:t>
            </a:r>
            <a:endParaRPr b="0" lang="en-US" sz="1300" spc="-1" strike="noStrike">
              <a:latin typeface="Arial"/>
            </a:endParaRPr>
          </a:p>
        </p:txBody>
      </p:sp>
      <p:graphicFrame>
        <p:nvGraphicFramePr>
          <p:cNvPr id="115" name="Google Shape;178;g361f05e3fa5_2_0"/>
          <p:cNvGraphicFramePr/>
          <p:nvPr/>
        </p:nvGraphicFramePr>
        <p:xfrm>
          <a:off x="4799520" y="1853640"/>
          <a:ext cx="4256640" cy="1542960"/>
        </p:xfrm>
        <a:graphic>
          <a:graphicData uri="http://schemas.openxmlformats.org/drawingml/2006/table">
            <a:tbl>
              <a:tblPr/>
              <a:tblGrid>
                <a:gridCol w="911880"/>
                <a:gridCol w="941040"/>
                <a:gridCol w="651240"/>
                <a:gridCol w="911880"/>
                <a:gridCol w="840600"/>
              </a:tblGrid>
              <a:tr h="37044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9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Class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9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Precision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9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Recall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9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F1-Score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9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Support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060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Moderate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0.97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1.00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0.98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3181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060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Strong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0.90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0.89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0.90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1312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13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Severe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0.31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0.11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0.16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146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6" name="Google Shape;179;g361f05e3fa5_2_0"/>
          <p:cNvSpPr/>
          <p:nvPr/>
        </p:nvSpPr>
        <p:spPr>
          <a:xfrm>
            <a:off x="180000" y="3240000"/>
            <a:ext cx="4409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rgbClr val="000000"/>
                </a:solidFill>
                <a:latin typeface="Arial"/>
                <a:ea typeface="Arial"/>
              </a:rPr>
              <a:t>🔹  </a:t>
            </a:r>
            <a:r>
              <a:rPr b="0" lang="en" sz="1200" spc="-1" strike="noStrike">
                <a:solidFill>
                  <a:srgbClr val="188038"/>
                </a:solidFill>
                <a:latin typeface="Roboto Mono"/>
                <a:ea typeface="Roboto Mono"/>
              </a:rPr>
              <a:t>XGBoost – Classification Results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117" name="Google Shape;180;g361f05e3fa5_2_0"/>
          <p:cNvGraphicFramePr/>
          <p:nvPr/>
        </p:nvGraphicFramePr>
        <p:xfrm>
          <a:off x="4784040" y="3707280"/>
          <a:ext cx="4325400" cy="1404360"/>
        </p:xfrm>
        <a:graphic>
          <a:graphicData uri="http://schemas.openxmlformats.org/drawingml/2006/table">
            <a:tbl>
              <a:tblPr/>
              <a:tblGrid>
                <a:gridCol w="926640"/>
                <a:gridCol w="956160"/>
                <a:gridCol w="662040"/>
                <a:gridCol w="926640"/>
                <a:gridCol w="853920"/>
              </a:tblGrid>
              <a:tr h="46800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Moderate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0.97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1.00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0.98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3181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800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Strong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0.90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0.93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0.91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1312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83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Severe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0.54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0.05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0.09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146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18" name="" descr=""/>
          <p:cNvPicPr/>
          <p:nvPr/>
        </p:nvPicPr>
        <p:blipFill>
          <a:blip r:embed="rId1"/>
          <a:stretch/>
        </p:blipFill>
        <p:spPr>
          <a:xfrm>
            <a:off x="2433240" y="3600000"/>
            <a:ext cx="2246760" cy="151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85;g361f05e3fa5_2_19"/>
          <p:cNvSpPr/>
          <p:nvPr/>
        </p:nvSpPr>
        <p:spPr>
          <a:xfrm>
            <a:off x="2453400" y="397440"/>
            <a:ext cx="4080960" cy="57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600" spc="-1" strike="noStrike">
                <a:solidFill>
                  <a:srgbClr val="a14342"/>
                </a:solidFill>
                <a:latin typeface="Anybody"/>
                <a:ea typeface="Anybody"/>
              </a:rPr>
              <a:t>Classification model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20" name="Google Shape;186;g361f05e3fa5_2_19"/>
          <p:cNvSpPr/>
          <p:nvPr/>
        </p:nvSpPr>
        <p:spPr>
          <a:xfrm>
            <a:off x="213840" y="1107720"/>
            <a:ext cx="5563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200" spc="-1" strike="noStrike">
                <a:solidFill>
                  <a:srgbClr val="000000"/>
                </a:solidFill>
                <a:latin typeface="Arial"/>
                <a:ea typeface="Arial"/>
              </a:rPr>
              <a:t>🔹  </a:t>
            </a:r>
            <a:r>
              <a:rPr b="1" lang="en" sz="1200" spc="-1" strike="noStrike">
                <a:solidFill>
                  <a:srgbClr val="188038"/>
                </a:solidFill>
                <a:latin typeface="Roboto Mono"/>
                <a:ea typeface="Roboto Mono"/>
              </a:rPr>
              <a:t>Logistic Regression – Classification Results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121" name="Google Shape;187;g361f05e3fa5_2_19"/>
          <p:cNvGraphicFramePr/>
          <p:nvPr/>
        </p:nvGraphicFramePr>
        <p:xfrm>
          <a:off x="4669200" y="1107720"/>
          <a:ext cx="4474440" cy="1773360"/>
        </p:xfrm>
        <a:graphic>
          <a:graphicData uri="http://schemas.openxmlformats.org/drawingml/2006/table">
            <a:tbl>
              <a:tblPr/>
              <a:tblGrid>
                <a:gridCol w="958680"/>
                <a:gridCol w="989280"/>
                <a:gridCol w="684720"/>
                <a:gridCol w="958680"/>
                <a:gridCol w="883080"/>
              </a:tblGrid>
              <a:tr h="42192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Class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Precision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Recall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F1-Score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Support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03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Moderate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0.94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1.00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0.97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3181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03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Strong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0.88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0.85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0.87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1312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07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Severe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0.00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0.00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0.00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146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2" name="Google Shape;188;g361f05e3fa5_2_19"/>
          <p:cNvSpPr/>
          <p:nvPr/>
        </p:nvSpPr>
        <p:spPr>
          <a:xfrm>
            <a:off x="259920" y="3006720"/>
            <a:ext cx="4272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200" spc="-1" strike="noStrike">
                <a:solidFill>
                  <a:srgbClr val="000000"/>
                </a:solidFill>
                <a:latin typeface="Arial"/>
                <a:ea typeface="Arial"/>
              </a:rPr>
              <a:t>🔹  </a:t>
            </a:r>
            <a:r>
              <a:rPr b="1" lang="en" sz="1200" spc="-1" strike="noStrike">
                <a:solidFill>
                  <a:srgbClr val="188038"/>
                </a:solidFill>
                <a:latin typeface="Roboto Mono"/>
                <a:ea typeface="Roboto Mono"/>
              </a:rPr>
              <a:t>Neural Network – Classification Results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123" name="Google Shape;189;g361f05e3fa5_2_19"/>
          <p:cNvGraphicFramePr/>
          <p:nvPr/>
        </p:nvGraphicFramePr>
        <p:xfrm>
          <a:off x="4707360" y="3006720"/>
          <a:ext cx="4436280" cy="1572480"/>
        </p:xfrm>
        <a:graphic>
          <a:graphicData uri="http://schemas.openxmlformats.org/drawingml/2006/table">
            <a:tbl>
              <a:tblPr/>
              <a:tblGrid>
                <a:gridCol w="950400"/>
                <a:gridCol w="980640"/>
                <a:gridCol w="678960"/>
                <a:gridCol w="950400"/>
                <a:gridCol w="875880"/>
              </a:tblGrid>
              <a:tr h="5241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Moderate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1.00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0.99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0.99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3181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41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Strong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0.89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0.94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0.91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1312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41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Severe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0.35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0.25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0.29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" sz="13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146</a:t>
                      </a:r>
                      <a:endParaRPr b="0" lang="en-US" sz="1300" spc="-1" strike="noStrike"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24" name="" descr=""/>
          <p:cNvPicPr/>
          <p:nvPr/>
        </p:nvPicPr>
        <p:blipFill>
          <a:blip r:embed="rId1"/>
          <a:stretch/>
        </p:blipFill>
        <p:spPr>
          <a:xfrm>
            <a:off x="2066760" y="3339720"/>
            <a:ext cx="2253240" cy="1520280"/>
          </a:xfrm>
          <a:prstGeom prst="rect">
            <a:avLst/>
          </a:prstGeom>
          <a:ln w="0">
            <a:noFill/>
          </a:ln>
        </p:spPr>
      </p:pic>
      <p:pic>
        <p:nvPicPr>
          <p:cNvPr id="125" name="" descr=""/>
          <p:cNvPicPr/>
          <p:nvPr/>
        </p:nvPicPr>
        <p:blipFill>
          <a:blip r:embed="rId2"/>
          <a:stretch/>
        </p:blipFill>
        <p:spPr>
          <a:xfrm>
            <a:off x="2160000" y="1440000"/>
            <a:ext cx="2160000" cy="1456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94;g361f05e3fa5_2_37"/>
          <p:cNvSpPr/>
          <p:nvPr/>
        </p:nvSpPr>
        <p:spPr>
          <a:xfrm>
            <a:off x="672480" y="856080"/>
            <a:ext cx="2999520" cy="14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pc="-1" strike="noStrike">
                <a:solidFill>
                  <a:srgbClr val="a14342"/>
                </a:solidFill>
                <a:latin typeface="Anybody"/>
                <a:ea typeface="Anybody"/>
              </a:rPr>
              <a:t>Thank you!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27" name="Google Shape;195;g361f05e3fa5_2_37"/>
          <p:cNvSpPr/>
          <p:nvPr/>
        </p:nvSpPr>
        <p:spPr>
          <a:xfrm>
            <a:off x="600480" y="2484360"/>
            <a:ext cx="299952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rgbClr val="332e2a"/>
                </a:solidFill>
                <a:latin typeface="Open Sans"/>
                <a:ea typeface="Open Sans"/>
              </a:rPr>
              <a:t>Do you have any questions?</a:t>
            </a:r>
            <a:endParaRPr b="0" lang="en-US" sz="1400" spc="-1" strike="noStrike">
              <a:latin typeface="Arial"/>
            </a:endParaRPr>
          </a:p>
        </p:txBody>
      </p:sp>
      <p:grpSp>
        <p:nvGrpSpPr>
          <p:cNvPr id="128" name="Google Shape;196;g361f05e3fa5_2_37"/>
          <p:cNvGrpSpPr/>
          <p:nvPr/>
        </p:nvGrpSpPr>
        <p:grpSpPr>
          <a:xfrm>
            <a:off x="-15120" y="2365200"/>
            <a:ext cx="9173880" cy="610920"/>
            <a:chOff x="-15120" y="2365200"/>
            <a:chExt cx="9173880" cy="610920"/>
          </a:xfrm>
        </p:grpSpPr>
        <p:sp>
          <p:nvSpPr>
            <p:cNvPr id="129" name="Google Shape;197;g361f05e3fa5_2_37"/>
            <p:cNvSpPr/>
            <p:nvPr/>
          </p:nvSpPr>
          <p:spPr>
            <a:xfrm>
              <a:off x="-15120" y="2365200"/>
              <a:ext cx="91738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525">
              <a:solidFill>
                <a:srgbClr val="a1434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0" name="Google Shape;198;g361f05e3fa5_2_37"/>
            <p:cNvSpPr/>
            <p:nvPr/>
          </p:nvSpPr>
          <p:spPr>
            <a:xfrm>
              <a:off x="-15120" y="2975760"/>
              <a:ext cx="91738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525">
              <a:solidFill>
                <a:srgbClr val="a1434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1" name="Google Shape;199;g361f05e3fa5_2_37"/>
          <p:cNvSpPr/>
          <p:nvPr/>
        </p:nvSpPr>
        <p:spPr>
          <a:xfrm>
            <a:off x="672480" y="3584520"/>
            <a:ext cx="2999520" cy="94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rgbClr val="332e2a"/>
                </a:solidFill>
                <a:latin typeface="Arial"/>
                <a:ea typeface="Arial"/>
              </a:rPr>
              <a:t>+98 905 608 3796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 u="sng">
                <a:solidFill>
                  <a:srgbClr val="0000ff"/>
                </a:solidFill>
                <a:uFillTx/>
                <a:latin typeface="Arial"/>
                <a:ea typeface="Arial"/>
                <a:hlinkClick r:id="rId1"/>
              </a:rPr>
              <a:t>mojahedmohaddeseh@gmail.com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rgbClr val="332e2a"/>
                </a:solidFill>
                <a:latin typeface="Arial"/>
                <a:ea typeface="Arial"/>
              </a:rPr>
              <a:t>+98 936 684 6926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rgbClr val="332e2a"/>
                </a:solidFill>
                <a:latin typeface="Arial"/>
                <a:ea typeface="Arial"/>
              </a:rPr>
              <a:t>zanyar.ghazali@ut.ac.ir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2025-06-08T00:28:13Z</dcterms:created>
  <dc:creator>Unknown Creator</dc:creator>
  <dc:description/>
  <dc:language>fa-IR</dc:language>
  <cp:lastModifiedBy/>
  <dcterms:modified xsi:type="dcterms:W3CDTF">2025-06-08T17:08:11Z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